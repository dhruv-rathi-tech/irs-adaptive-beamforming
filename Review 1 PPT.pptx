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embeddedFontLst>
    <p:embeddedFont>
      <p:font typeface="Gelasio" panose="020B0604020202020204" charset="0"/>
      <p:regular r:id="rId15"/>
    </p:embeddedFont>
    <p:embeddedFont>
      <p:font typeface="Lato" panose="020B0604020202020204" charset="0"/>
      <p:regular r:id="rId16"/>
    </p:embeddedFont>
    <p:embeddedFont>
      <p:font typeface="La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20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63462-1E68-F269-7626-756D754B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07"/>
          <a:stretch/>
        </p:blipFill>
        <p:spPr>
          <a:xfrm>
            <a:off x="-19076" y="0"/>
            <a:ext cx="12211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1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76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&amp; Motivation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3176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92712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33580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IRS-assisted links require accurate CSI; noisy pilots → imperfect CSI → degraded beamforming → sum-rate loss.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73176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192712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question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33580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 IRS beamforming remain robust when CSI is noise-limited? — emphasise "noise-aware".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73176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192712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IRS?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33580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programmable reflection · coverage extension · spectral &amp; energy efficiency · relevant to 6G/mmWave.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929856"/>
            <a:ext cx="10868646" cy="1101824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125218"/>
            <a:ext cx="104779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Real-world issue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533900"/>
            <a:ext cx="104779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pilots · receiver noise floor · channel-estimation error — separate H/G recovery can amplify noise.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24430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8E8E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511998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48054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 contrast: PERFECT CSI assumption → REALISTIC NOISY CSI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68BA0C-D1F6-D148-F2D1-249AD6A44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293114"/>
              </p:ext>
            </p:extLst>
          </p:nvPr>
        </p:nvGraphicFramePr>
        <p:xfrm>
          <a:off x="661475" y="1166327"/>
          <a:ext cx="10868746" cy="5224730"/>
        </p:xfrm>
        <a:graphic>
          <a:graphicData uri="http://schemas.openxmlformats.org/drawingml/2006/table">
            <a:tbl>
              <a:tblPr/>
              <a:tblGrid>
                <a:gridCol w="6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4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5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8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No.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Author(s) &amp; Year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Topic / Source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Method / Key finding / Gap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Lato" panose="020B0604020202020204" charset="0"/>
                        </a:rPr>
                        <a:t>Q. Wu and R. Zhang, IEEE TWC, 2019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IRS-assisted beamforming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Optimisation baselines; often assumes perfect CSI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2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Lato" panose="020B0604020202020204" charset="0"/>
                        </a:rPr>
                        <a:t>Z.-Q. He and X. Yuan, IEEE Wireless </a:t>
                      </a:r>
                      <a:r>
                        <a:rPr lang="en-IN" sz="1200" dirty="0" err="1">
                          <a:latin typeface="Lato" panose="020B0604020202020204" charset="0"/>
                        </a:rPr>
                        <a:t>Commun</a:t>
                      </a:r>
                      <a:r>
                        <a:rPr lang="en-IN" sz="1200" dirty="0">
                          <a:latin typeface="Lato" panose="020B0604020202020204" charset="0"/>
                        </a:rPr>
                        <a:t>. Lett., vol. 9, no. 2, pp. 210–214, 2020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Cascaded channel estimation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Separate H/G recovery; potential noise amplification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sv-SE" sz="1200" dirty="0">
                          <a:latin typeface="Lato" panose="020B0604020202020204" charset="0"/>
                        </a:rPr>
                        <a:t>G. Zhou, C. Pan, H. Ren, K. Wang, M. Di Renzo, A. Nallanathan, arXiv:2001.07054 (IEEE Trans. Signal Process., 2020)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Robust beamforming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Robust optimisation under imperfect CSI; limited noise-aware pipelines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4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Lato" panose="020B0604020202020204" charset="0"/>
                        </a:rPr>
                        <a:t>M. Eisen and A. Ribeiro, IEEE Trans. Signal Process., vol. 68, pp. 2977–2991, 2020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GNN for wireless resource allocation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Promising but application to noisy IRS estimation is 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5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Cao, Lv &amp; Ni — PIMRC 2020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Foundational IRS formulation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Reference system model for many follow-ups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6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Lato" panose="020B0604020202020204" charset="0"/>
                        </a:rPr>
                        <a:t>Q. Wu and R. Zhang, arXiv:1810.10718 (IEEE Trans. </a:t>
                      </a:r>
                      <a:r>
                        <a:rPr lang="en-IN" sz="1200" dirty="0" err="1">
                          <a:latin typeface="Lato" panose="020B0604020202020204" charset="0"/>
                        </a:rPr>
                        <a:t>Commun</a:t>
                      </a:r>
                      <a:r>
                        <a:rPr lang="en-IN" sz="1200" dirty="0">
                          <a:latin typeface="Lato" panose="020B0604020202020204" charset="0"/>
                        </a:rPr>
                        <a:t>., 2020)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Phase-shift quantization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Practical discrete IRS design considerations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7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200" dirty="0">
                          <a:latin typeface="Lato" panose="020B0604020202020204" charset="0"/>
                        </a:rPr>
                        <a:t>K. Guo, X. Liu, Y. Zhang et al., IEEE TWC, 2022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AO / SDR baselines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Computational benchmarks; rely on CSI quality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8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8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dirty="0">
                          <a:latin typeface="Lato" panose="020B0604020202020204" charset="0"/>
                        </a:rPr>
                        <a:t>C. Liu, X. Liu, D. W. K. Ng, J. Yuan, IEEE Trans. Wireless </a:t>
                      </a:r>
                      <a:r>
                        <a:rPr lang="en-GB" sz="1200" dirty="0" err="1">
                          <a:latin typeface="Lato" panose="020B0604020202020204" charset="0"/>
                        </a:rPr>
                        <a:t>Commun</a:t>
                      </a:r>
                      <a:r>
                        <a:rPr lang="en-GB" sz="1200" dirty="0">
                          <a:latin typeface="Lato" panose="020B0604020202020204" charset="0"/>
                        </a:rPr>
                        <a:t>., vol. 21, pp. 898–912, 2021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Noise-aware estimation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Lato" panose="020B0604020202020204" charset="0"/>
                          <a:ea typeface="Lato" pitchFamily="34" charset="-122"/>
                          <a:cs typeface="Lato" pitchFamily="34" charset="-120"/>
                        </a:rPr>
                        <a:t>Gap: integrated noise-aware estimation + beamforming scant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3577" marR="1535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8CCAFF9-B14A-92BD-82ED-C9BBF08ED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89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Solutions → Limitations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2110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Perfect‑CSI AO / SDR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86397"/>
            <a:ext cx="327770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Strength: strong optimization benchmark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Limitation: assumes perfect CSI (unrealistic in noisy pilots)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406691" y="1802110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Separate H and G estimation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406691" y="2286397"/>
            <a:ext cx="327770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Strength: conventional formulation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Limitation: dividing by small coefficients amplifies noise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51906" y="1802110"/>
            <a:ext cx="33909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Optimization without noise‑aware learning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151906" y="2581672"/>
            <a:ext cx="339091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Strength: established computational baselines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Limitation: does not learn robustness from noisy observations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24093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05E1E0-06A2-FE40-5DFA-8BC302338A59}"/>
              </a:ext>
            </a:extLst>
          </p:cNvPr>
          <p:cNvGrpSpPr/>
          <p:nvPr/>
        </p:nvGrpSpPr>
        <p:grpSpPr>
          <a:xfrm>
            <a:off x="698699" y="5454353"/>
            <a:ext cx="10868745" cy="1069304"/>
            <a:chOff x="661475" y="4676577"/>
            <a:chExt cx="10868745" cy="1069304"/>
          </a:xfrm>
        </p:grpSpPr>
        <p:sp>
          <p:nvSpPr>
            <p:cNvPr id="10" name="Shape 8"/>
            <p:cNvSpPr/>
            <p:nvPr/>
          </p:nvSpPr>
          <p:spPr>
            <a:xfrm>
              <a:off x="661475" y="4676577"/>
              <a:ext cx="10868745" cy="944943"/>
            </a:xfrm>
            <a:prstGeom prst="roundRect">
              <a:avLst>
                <a:gd name="adj" fmla="val 5504"/>
              </a:avLst>
            </a:prstGeom>
            <a:solidFill>
              <a:srgbClr val="FFFFFF">
                <a:alpha val="95000"/>
              </a:srgbClr>
            </a:solidFill>
            <a:ln w="25399">
              <a:solidFill>
                <a:srgbClr val="CECEC9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75881" y="4890988"/>
              <a:ext cx="10439933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THE GAP</a:t>
              </a:r>
              <a:endParaRPr lang="en-US" sz="18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47888" y="5141043"/>
              <a:ext cx="10439933" cy="604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Noisy pilots → imperfect CSI → beamforming degradation. Need integrated noise-aware pipeline estimating cascaded channel directly.</a:t>
              </a:r>
              <a:endParaRPr lang="en-US" sz="14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CABD436-D9C9-CB58-C494-ED175AEB3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707" y="6428384"/>
            <a:ext cx="1257475" cy="345328"/>
          </a:xfrm>
          <a:prstGeom prst="rect">
            <a:avLst/>
          </a:prstGeom>
        </p:spPr>
      </p:pic>
      <p:sp>
        <p:nvSpPr>
          <p:cNvPr id="18" name="Shape 7">
            <a:extLst>
              <a:ext uri="{FF2B5EF4-FFF2-40B4-BE49-F238E27FC236}">
                <a16:creationId xmlns:a16="http://schemas.microsoft.com/office/drawing/2014/main" id="{4AF2CBBF-F179-2D3C-161B-2DDA508FEB3B}"/>
              </a:ext>
            </a:extLst>
          </p:cNvPr>
          <p:cNvSpPr/>
          <p:nvPr/>
        </p:nvSpPr>
        <p:spPr>
          <a:xfrm>
            <a:off x="661475" y="4519425"/>
            <a:ext cx="10905969" cy="734800"/>
          </a:xfrm>
          <a:prstGeom prst="roundRect">
            <a:avLst>
              <a:gd name="adj" fmla="val 7501"/>
            </a:avLst>
          </a:prstGeom>
          <a:solidFill>
            <a:srgbClr val="E5E5E0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97AA85-ADEB-FBA0-E069-23B83336704C}"/>
              </a:ext>
            </a:extLst>
          </p:cNvPr>
          <p:cNvSpPr txBox="1"/>
          <p:nvPr/>
        </p:nvSpPr>
        <p:spPr>
          <a:xfrm>
            <a:off x="885112" y="4486372"/>
            <a:ext cx="7410839" cy="69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dirty="0">
                <a:latin typeface="Lato" panose="020B0604020202020204" charset="0"/>
              </a:rPr>
              <a:t>G = BS → IRS channel matrix (dimension M×N: M = IRS elements = 64, N = BS antennas = 8) 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Lato" panose="020B0604020202020204" charset="0"/>
              </a:rPr>
              <a:t>H = IRS → user-k channel vector (dimension M×1)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20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Solution &amp; Methodology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18134"/>
            <a:ext cx="10868745" cy="3427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3287" y="2454936"/>
            <a:ext cx="1903657" cy="587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Channel+Noise Sim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83287" y="3126409"/>
            <a:ext cx="1903657" cy="6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Simulating channel conditions and noise interference.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885507" y="2601902"/>
            <a:ext cx="1903657" cy="293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LS Cascaded Est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885507" y="2979443"/>
            <a:ext cx="1903657" cy="6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Applying cascaded least squares estimation techniques.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14573" y="2568753"/>
            <a:ext cx="1903657" cy="587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Noise-Aware GNN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14573" y="3240226"/>
            <a:ext cx="1903657" cy="455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Utilising a noise-aware graph neural network.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85441" y="2601902"/>
            <a:ext cx="1903657" cy="293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Monte Carlo Eval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985441" y="2979443"/>
            <a:ext cx="1903657" cy="6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Evaluating performance through Monte Carlo methods.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5032871"/>
            <a:ext cx="5351329" cy="1292920"/>
          </a:xfrm>
          <a:prstGeom prst="roundRect">
            <a:avLst>
              <a:gd name="adj" fmla="val 575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025" y="5216426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parameters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5025" y="5592961"/>
            <a:ext cx="4984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N=8 (BS), M=64 (IRS), K=4 (users), K-factor=10, αBI=2.2, αIU=3.5, noise floor = −85 dBm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8892" y="5032871"/>
            <a:ext cx="5351329" cy="1292920"/>
          </a:xfrm>
          <a:prstGeom prst="roundRect">
            <a:avLst>
              <a:gd name="adj" fmla="val 575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62442" y="5216426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Methodological insight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62442" y="5592961"/>
            <a:ext cx="4984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Estimate cascaded channel directly: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C_k = diag(conj(h_k)) G — avoids unstable H/G division and noise amplification.</a:t>
            </a: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B09B79-30DC-975F-F858-3F97B5CFD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Scope &amp; System Model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6" y="184998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Channel models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7" y="2145259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BS–IRS: Rician (LOS)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IRS–User: Rayleigh (NLoS)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Path-loss: PL(d)=C0(d/d0)^{-α}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7" y="346814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 scope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763418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simulation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Cascaded C_k estimation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MATLAB/CVX baselines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Planned: GNN, Monte Carlo, quantization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6D7117-3411-1977-5BAD-4FCEC4E61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95" y="6381879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50% Complete — Timeline &amp; Tools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256705"/>
            <a:ext cx="165294" cy="992287"/>
          </a:xfrm>
          <a:prstGeom prst="roundRect">
            <a:avLst>
              <a:gd name="adj" fmla="val 4202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1426" y="1422003"/>
            <a:ext cx="105587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1 — COMPLETE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1426" y="1767284"/>
            <a:ext cx="1055879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Channel &amp; pilot simulation, SNR measurement, sanity checks (Python).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9516" y="2393652"/>
            <a:ext cx="165294" cy="992287"/>
          </a:xfrm>
          <a:prstGeom prst="roundRect">
            <a:avLst>
              <a:gd name="adj" fmla="val 4202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467" y="2558951"/>
            <a:ext cx="103107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2 —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467" y="2904232"/>
            <a:ext cx="1031075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Cascaded C_k LS estimation, AO baselines, MATLAB/CVX verification.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57556" y="3530600"/>
            <a:ext cx="165294" cy="992287"/>
          </a:xfrm>
          <a:prstGeom prst="roundRect">
            <a:avLst>
              <a:gd name="adj" fmla="val 4202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7508" y="3695898"/>
            <a:ext cx="100627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3 — 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7508" y="4041180"/>
            <a:ext cx="1006271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GNN noise‑aware learning (planned)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05696" y="4667548"/>
            <a:ext cx="165294" cy="992287"/>
          </a:xfrm>
          <a:prstGeom prst="roundRect">
            <a:avLst>
              <a:gd name="adj" fmla="val 42025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5648" y="4832846"/>
            <a:ext cx="98145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Phases 4 — FUTURE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5648" y="5178127"/>
            <a:ext cx="981457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Monte Carlo sweeps, pilot/noise studies, discrete phase quantization.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586382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6086872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Tools:</a:t>
            </a: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Python (NumPy, SciPy, Matplotlib) · MATLAB (AO, CVX) · Git/GitHub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795F9C-B5DF-E482-75B9-5B903BEAE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99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Has Been Verified?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93057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 — Physical model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77344"/>
            <a:ext cx="32777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Channel dims, complex values, Rician/Rayleigh behaviour and expected path-loss validated.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406691" y="2393057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 — Noise model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406691" y="2877344"/>
            <a:ext cx="32777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absolute noise floor; received SNR emerges correctly; higher noise → expected SNR degradation.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51906" y="2393057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 — Cascaded estimation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151906" y="2877344"/>
            <a:ext cx="33909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 C_k LS recovery algebraically consistent with reference formulation; numerical agreement within machine precision.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46970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5E5E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737398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470594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Important conceptual point: estimating C_k directly avoids unstable division by small channel coefficients and associated noise amplification.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B09A8D-67B3-758E-C218-C2C6485DB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898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— Phase 1 &amp; Phase 2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18419"/>
            <a:ext cx="5265110" cy="37608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0737" y="5190655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Figure 1 — Path-loss sanity check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BS–IRS α=2.2 · IRS–User α=3.5 · expected monotonic decay · illustrative sanity check.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460" y="1222177"/>
            <a:ext cx="5265110" cy="37608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47321" y="5193903"/>
            <a:ext cx="5265110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Figure 2 — Ĉ recovery vs noise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Recovery error increases as noise floor worsens — single-realization illustrative verification (Monte Carlo planned in Phase 4).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0159C4-EB04-6FBA-4201-8FA1C118E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14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— AO Baseline, Takeaway &amp; Next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283" y="1259780"/>
            <a:ext cx="4237130" cy="3028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40809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Figure — Phase‑2 AO comparison (single realization)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4726087"/>
            <a:ext cx="3552042" cy="1527770"/>
          </a:xfrm>
          <a:prstGeom prst="roundRect">
            <a:avLst>
              <a:gd name="adj" fmla="val 38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205" y="4886821"/>
            <a:ext cx="32305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Reported values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205" y="5171976"/>
            <a:ext cx="3230581" cy="921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36.35 bps/Hz — Perfect‑CSI AO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35.52 bps/Hz — Estimated‑CSI AO (algorithm‑seen)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29.53 bps/Hz — Estimated‑CSI AO (TRUE realistic evaluation)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19777" y="4726087"/>
            <a:ext cx="3552042" cy="1527770"/>
          </a:xfrm>
          <a:prstGeom prst="roundRect">
            <a:avLst>
              <a:gd name="adj" fmla="val 38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07" y="4886821"/>
            <a:ext cx="32305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Additional metrics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0507" y="5171976"/>
            <a:ext cx="32305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Ĉ mean recovery error ≈ 4.4% · Pilot overhead = 1024 symbols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78079" y="4726087"/>
            <a:ext cx="3552042" cy="1527770"/>
          </a:xfrm>
          <a:prstGeom prst="roundRect">
            <a:avLst>
              <a:gd name="adj" fmla="val 38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ECE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810" y="4886821"/>
            <a:ext cx="32305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Takeaway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38810" y="5171976"/>
            <a:ext cx="32305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Imperfect CSI produces a measurable sum‑rate penalty — motivates noise‑aware learning (Phase 3).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73CAB8-1EF7-96A5-7E99-7AA665BBC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3" y="12469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4" y="2457774"/>
            <a:ext cx="10868745" cy="4400226"/>
          </a:xfrm>
          <a:prstGeom prst="rect">
            <a:avLst/>
          </a:prstGeom>
          <a:noFill/>
          <a:ln/>
        </p:spPr>
        <p:txBody>
          <a:bodyPr wrap="square" lIns="0" tIns="75608" rIns="0" bIns="0" numCol="2" rtlCol="0" anchor="t">
            <a:normAutofit fontScale="92500"/>
          </a:bodyPr>
          <a:lstStyle/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[1] Q. Wu and R. Zhang, "Intelligent Reflecting Surface Enhanced Wireless Network via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Joint Active and Passive Beamforming," IEEE Trans. Wireless </a:t>
            </a:r>
            <a:r>
              <a:rPr lang="en-US" sz="1200" dirty="0" err="1">
                <a:latin typeface="Lato" panose="020B0604020202020204" charset="0"/>
              </a:rPr>
              <a:t>Commun</a:t>
            </a:r>
            <a:r>
              <a:rPr lang="en-US" sz="1200" dirty="0">
                <a:latin typeface="Lato" panose="020B0604020202020204" charset="0"/>
              </a:rPr>
              <a:t>., vol. 18,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no. 11, pp. 5394–5409, Nov. 2019.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[2] Z.-Q. He and X. Yuan, "Cascaded Channel Estimation for Large Intelligent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</a:t>
            </a:r>
            <a:r>
              <a:rPr lang="en-US" sz="1200" dirty="0" err="1">
                <a:latin typeface="Lato" panose="020B0604020202020204" charset="0"/>
              </a:rPr>
              <a:t>Metasurface</a:t>
            </a:r>
            <a:r>
              <a:rPr lang="en-US" sz="1200" dirty="0">
                <a:latin typeface="Lato" panose="020B0604020202020204" charset="0"/>
              </a:rPr>
              <a:t> Assisted Massive MIMO," IEEE Wireless </a:t>
            </a:r>
            <a:r>
              <a:rPr lang="en-US" sz="1200" dirty="0" err="1">
                <a:latin typeface="Lato" panose="020B0604020202020204" charset="0"/>
              </a:rPr>
              <a:t>Commun</a:t>
            </a:r>
            <a:r>
              <a:rPr lang="en-US" sz="1200" dirty="0">
                <a:latin typeface="Lato" panose="020B0604020202020204" charset="0"/>
              </a:rPr>
              <a:t>. Lett., vol. 9, no. 2,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pp. 210–214, Oct. 2020.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[3] G. Zhou, C. Pan, H. Ren, K. Wang, M. Di Renzo, and A. </a:t>
            </a:r>
            <a:r>
              <a:rPr lang="en-US" sz="1200" dirty="0" err="1">
                <a:latin typeface="Lato" panose="020B0604020202020204" charset="0"/>
              </a:rPr>
              <a:t>Nallanathan</a:t>
            </a:r>
            <a:r>
              <a:rPr lang="en-US" sz="1200" dirty="0">
                <a:latin typeface="Lato" panose="020B0604020202020204" charset="0"/>
              </a:rPr>
              <a:t>, "A Framework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of Robust Transmission Design for IRS-Aided MISO Communications With Imperfect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Cascaded Channels," IEEE Trans. Signal Process., 2020, arXiv:2001.07054.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[4] M. Eisen and A. Ribeiro, "Optimal Wireless Resource Allocation With Random Edge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Graph Neural Networks," IEEE Trans. Signal Process., vol. 68, pp. 2977–2991, 2020.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[5] J. Cao, J. </a:t>
            </a:r>
            <a:r>
              <a:rPr lang="en-US" sz="1200" dirty="0" err="1">
                <a:latin typeface="Lato" panose="020B0604020202020204" charset="0"/>
              </a:rPr>
              <a:t>Lv</a:t>
            </a:r>
            <a:r>
              <a:rPr lang="en-US" sz="1200" dirty="0">
                <a:latin typeface="Lato" panose="020B0604020202020204" charset="0"/>
              </a:rPr>
              <a:t>, and S. Ni, "A foundational framework for intelligent reflecting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surface-assisted wireless communication systems," in Proc. IEEE PIMRC, London,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UK, Aug.–Sept. 2020, pp. 1–6.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[6] Q. Wu and R. Zhang, "Beamforming Optimization for Intelligent Reflecting Surface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with Discrete Phase Shifts," IEEE Trans. </a:t>
            </a:r>
            <a:r>
              <a:rPr lang="en-US" sz="1200" dirty="0" err="1">
                <a:latin typeface="Lato" panose="020B0604020202020204" charset="0"/>
              </a:rPr>
              <a:t>Commun</a:t>
            </a:r>
            <a:r>
              <a:rPr lang="en-US" sz="1200" dirty="0">
                <a:latin typeface="Lato" panose="020B0604020202020204" charset="0"/>
              </a:rPr>
              <a:t>., 2020, arXiv:1810.10718.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[7] K. Guo, X. Liu, Y. Zhang, and Z. Ding, "Joint Beamforming for IRS-Aided Multi-Cell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MISO System: Sum Rate Maximization and SINR Balancing," IEEE Trans. Wireless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</a:t>
            </a:r>
            <a:r>
              <a:rPr lang="en-US" sz="1200" dirty="0" err="1">
                <a:latin typeface="Lato" panose="020B0604020202020204" charset="0"/>
              </a:rPr>
              <a:t>Commun</a:t>
            </a:r>
            <a:r>
              <a:rPr lang="en-US" sz="1200" dirty="0">
                <a:latin typeface="Lato" panose="020B0604020202020204" charset="0"/>
              </a:rPr>
              <a:t>., 2022.</a:t>
            </a:r>
          </a:p>
          <a:p>
            <a:pPr algn="just">
              <a:lnSpc>
                <a:spcPct val="133000"/>
              </a:lnSpc>
              <a:buSzPct val="100000"/>
            </a:pPr>
            <a:endParaRPr lang="en-US" sz="1200" dirty="0">
              <a:latin typeface="Lato" panose="020B0604020202020204" charset="0"/>
            </a:endParaRP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[8] C. Liu, X. Liu, D. W. K. Ng, and J. Yuan, "Deep Residual Learning for Channel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Estimation in Intelligent Reflecting Surface-Assisted Multi-User Communications,"</a:t>
            </a:r>
          </a:p>
          <a:p>
            <a:pPr algn="just">
              <a:lnSpc>
                <a:spcPct val="133000"/>
              </a:lnSpc>
              <a:buSzPct val="100000"/>
            </a:pPr>
            <a:r>
              <a:rPr lang="en-US" sz="1200" dirty="0">
                <a:latin typeface="Lato" panose="020B0604020202020204" charset="0"/>
              </a:rPr>
              <a:t>    IEEE Trans. Wireless </a:t>
            </a:r>
            <a:r>
              <a:rPr lang="en-US" sz="1200" dirty="0" err="1">
                <a:latin typeface="Lato" panose="020B0604020202020204" charset="0"/>
              </a:rPr>
              <a:t>Commun</a:t>
            </a:r>
            <a:r>
              <a:rPr lang="en-US" sz="1200" dirty="0">
                <a:latin typeface="Lato" panose="020B0604020202020204" charset="0"/>
              </a:rPr>
              <a:t>., vol. 21, pp. 898–912, 2021.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68F2F-886E-24CF-3DDA-6F3012F57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13819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</a:t>
            </a:r>
            <a:endParaRPr lang="en-US" sz="8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5C7430-3C23-F0D1-9590-E97935C4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707" y="6391060"/>
            <a:ext cx="1257475" cy="466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1412</Words>
  <Application>Microsoft Office PowerPoint</Application>
  <PresentationFormat>Widescreen</PresentationFormat>
  <Paragraphs>163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Lato Bold</vt:lpstr>
      <vt:lpstr>Arial</vt:lpstr>
      <vt:lpstr>Lato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Dhruv Rathi</cp:lastModifiedBy>
  <cp:revision>29</cp:revision>
  <dcterms:created xsi:type="dcterms:W3CDTF">2026-08-31T17:58:35Z</dcterms:created>
  <dcterms:modified xsi:type="dcterms:W3CDTF">2026-08-31T18:23:26Z</dcterms:modified>
</cp:coreProperties>
</file>