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8" r:id="rId3"/>
    <p:sldId id="267" r:id="rId4"/>
    <p:sldId id="257" r:id="rId5"/>
    <p:sldId id="258" r:id="rId6"/>
    <p:sldId id="263" r:id="rId7"/>
    <p:sldId id="259" r:id="rId8"/>
    <p:sldId id="261" r:id="rId9"/>
    <p:sldId id="260" r:id="rId10"/>
    <p:sldId id="264" r:id="rId11"/>
    <p:sldId id="266" r:id="rId12"/>
    <p:sldId id="265" r:id="rId13"/>
  </p:sldIdLst>
  <p:sldSz cx="12192000" cy="6858000"/>
  <p:notesSz cx="6858000" cy="12192000"/>
  <p:embeddedFontLst>
    <p:embeddedFont>
      <p:font typeface="Gelasio" panose="020B0604020202020204" charset="0"/>
      <p:regular r:id="rId15"/>
    </p:embeddedFon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Lato Bold" panose="020F0502020204030203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2F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279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06475"/>
            <a:ext cx="10868745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Noise-Aware Adaptive Beamforming for Intelligent Reflecting Surface-Assisted Wireless Communications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2" y="2954052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61473" y="3180482"/>
            <a:ext cx="10868745" cy="184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Vellore Institute of Technology, Chennai</a:t>
            </a:r>
            <a:endParaRPr lang="en-US" sz="1450" dirty="0"/>
          </a:p>
          <a:p>
            <a:pPr marL="0" indent="0" algn="ctr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School of Electronics Engineering (SENSE)</a:t>
            </a:r>
            <a:endParaRPr lang="en-US" sz="1450" dirty="0"/>
          </a:p>
          <a:p>
            <a:pPr marL="0" indent="0" algn="ctr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Guide:</a:t>
            </a: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Dr. Kuldeep Yadav</a:t>
            </a:r>
            <a:endParaRPr lang="en-US" sz="145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Soham Landge – 23BLC1130  |  Pulkit Bathwal – 23BLC1147  |  Dhruv Rathi – 23BLC1164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2" y="585152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Guide's Signature: ______________________</a:t>
            </a:r>
            <a:endParaRPr lang="en-US" sz="1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23B72F-A7FC-0601-F0EE-1B5095EB7B3B}"/>
              </a:ext>
            </a:extLst>
          </p:cNvPr>
          <p:cNvSpPr/>
          <p:nvPr/>
        </p:nvSpPr>
        <p:spPr>
          <a:xfrm>
            <a:off x="10692882" y="6354147"/>
            <a:ext cx="1499118" cy="503853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6D626C-5150-82BF-66BB-560EC2BC80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068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D07594-94DF-49E5-7458-D12D67D5FD87}"/>
              </a:ext>
            </a:extLst>
          </p:cNvPr>
          <p:cNvSpPr/>
          <p:nvPr/>
        </p:nvSpPr>
        <p:spPr>
          <a:xfrm>
            <a:off x="10926147" y="6494106"/>
            <a:ext cx="1265853" cy="36389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B5169E-E9DD-6EAB-332A-EBAE9B063BEB}"/>
              </a:ext>
            </a:extLst>
          </p:cNvPr>
          <p:cNvSpPr txBox="1"/>
          <p:nvPr/>
        </p:nvSpPr>
        <p:spPr>
          <a:xfrm>
            <a:off x="-599491" y="1091012"/>
            <a:ext cx="6097554" cy="67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cs typeface="Gelasio" pitchFamily="34" charset="-120"/>
              </a:rPr>
              <a:t>Introduction</a:t>
            </a:r>
            <a:endParaRPr lang="en-US" sz="37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CD7FD0-36AD-2435-1A2C-CCA9C239AAF1}"/>
              </a:ext>
            </a:extLst>
          </p:cNvPr>
          <p:cNvSpPr txBox="1"/>
          <p:nvPr/>
        </p:nvSpPr>
        <p:spPr>
          <a:xfrm>
            <a:off x="968052" y="1890002"/>
            <a:ext cx="9827466" cy="3737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mmWave</a:t>
            </a:r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communication enables high data rates but suffers from severe blockage and signal attenuation in </a:t>
            </a:r>
            <a:r>
              <a:rPr lang="en-IN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NLoS</a:t>
            </a:r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environments.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Intelligent Reflecting Surfaces (IRS) can mitigate this issue by intelligently redirecting signals and creating virtual </a:t>
            </a:r>
            <a:r>
              <a:rPr lang="en-IN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NLoS</a:t>
            </a:r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links.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Effective IRS beamforming requires accurate Channel State Information (CSI).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 practice, CSI is affected by pilot noise, limited pilot length, and varying SNR conditions.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Existing approaches often assume perfect CSI and idealized IRS phase control, creating a gap between theory and practical deployment.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This work investigates a noise-aware GNN-based beamforming framework designed to operate under realistic CSI conditions and discrete IRS phase constraints.</a:t>
            </a:r>
          </a:p>
        </p:txBody>
      </p:sp>
    </p:spTree>
    <p:extLst>
      <p:ext uri="{BB962C8B-B14F-4D97-AF65-F5344CB8AC3E}">
        <p14:creationId xmlns:p14="http://schemas.microsoft.com/office/powerpoint/2010/main" val="1419237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2975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Problem Overview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573933"/>
            <a:ext cx="3504219" cy="2286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mmWave signals suffer severe blockage in </a:t>
            </a: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non-line-of-sight (NLoS)</a:t>
            </a: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scenarios.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Intelligent Reflecting Surfaces (IRS) mitigate propagation attenuation by using passive elements to redirect reflected signals, creating virtual NLoS links through </a:t>
            </a: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joint beamforming</a:t>
            </a: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4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376341-D68E-6240-79AB-1C848FCAC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5368" y="1709476"/>
            <a:ext cx="4827369" cy="343904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5F18406-FB36-200B-9EE2-2A7BCDCD510A}"/>
              </a:ext>
            </a:extLst>
          </p:cNvPr>
          <p:cNvSpPr/>
          <p:nvPr/>
        </p:nvSpPr>
        <p:spPr>
          <a:xfrm>
            <a:off x="10692882" y="6363478"/>
            <a:ext cx="1499118" cy="503853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3145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312F2B"/>
                </a:solidFill>
                <a:latin typeface="Gelasio" pitchFamily="34" charset="0"/>
                <a:cs typeface="Gelasio" pitchFamily="34" charset="-120"/>
              </a:rPr>
              <a:t>Challenges faced for calculating CSI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210" y="1562100"/>
            <a:ext cx="6565736" cy="3286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3732" y="3067056"/>
            <a:ext cx="1233123" cy="184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Short Pilot Length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3380607" y="4568528"/>
            <a:ext cx="1475813" cy="184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cs typeface="Gelasio" pitchFamily="34" charset="-120"/>
              </a:rPr>
              <a:t>High Noise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130742" y="3067056"/>
            <a:ext cx="1233123" cy="184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Long Pilot Length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376917" y="1696976"/>
            <a:ext cx="1475813" cy="184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cs typeface="Gelasio" pitchFamily="34" charset="-120"/>
              </a:rPr>
              <a:t>Low Noise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690454" y="2633653"/>
            <a:ext cx="1265919" cy="143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2000"/>
              </a:lnSpc>
            </a:pPr>
            <a:r>
              <a:rPr lang="en-IN" sz="900" dirty="0"/>
              <a:t>More Data , Better CSI</a:t>
            </a:r>
          </a:p>
          <a:p>
            <a:pPr marL="0" indent="0" algn="ctr">
              <a:lnSpc>
                <a:spcPct val="102000"/>
              </a:lnSpc>
              <a:buNone/>
            </a:pP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412241" y="3848436"/>
            <a:ext cx="1265919" cy="287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2000"/>
              </a:lnSpc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Less data , Better CSI </a:t>
            </a:r>
            <a:endParaRPr lang="en-US" sz="900" dirty="0"/>
          </a:p>
          <a:p>
            <a:pPr marL="0" indent="0" algn="ctr">
              <a:lnSpc>
                <a:spcPct val="102000"/>
              </a:lnSpc>
              <a:buNone/>
            </a:pP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412241" y="2634960"/>
            <a:ext cx="1265919" cy="287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Less Data, Improved CSI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690455" y="3811870"/>
            <a:ext cx="1265919" cy="143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More data, noisy CSI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017270" y="2612330"/>
            <a:ext cx="3519201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Accurate </a:t>
            </a:r>
            <a:r>
              <a:rPr lang="en-US" sz="14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Channel State Information (CSI)</a:t>
            </a: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is essential for beamforming, but passive IRS cannot measure channels directly.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017270" y="3689350"/>
            <a:ext cx="3519201" cy="254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232102"/>
            <a:ext cx="5349047" cy="107265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67954" y="5436989"/>
            <a:ext cx="483768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Long Pilot Sequences</a:t>
            </a:r>
            <a:endParaRPr lang="en-US" sz="1750" dirty="0"/>
          </a:p>
        </p:txBody>
      </p:sp>
      <p:sp>
        <p:nvSpPr>
          <p:cNvPr id="16" name="Text 12"/>
          <p:cNvSpPr/>
          <p:nvPr/>
        </p:nvSpPr>
        <p:spPr>
          <a:xfrm>
            <a:off x="967954" y="5819775"/>
            <a:ext cx="483768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Reduce data transmission efficiency</a:t>
            </a:r>
            <a:endParaRPr lang="en-US" sz="14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1074" y="5232102"/>
            <a:ext cx="5349146" cy="107265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87553" y="5436989"/>
            <a:ext cx="483778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Noisy Pilots</a:t>
            </a:r>
            <a:endParaRPr lang="en-US" sz="1750" dirty="0"/>
          </a:p>
        </p:txBody>
      </p:sp>
      <p:sp>
        <p:nvSpPr>
          <p:cNvPr id="19" name="Text 14"/>
          <p:cNvSpPr/>
          <p:nvPr/>
        </p:nvSpPr>
        <p:spPr>
          <a:xfrm>
            <a:off x="6487553" y="5819775"/>
            <a:ext cx="483778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Degrade beamforming decisions</a:t>
            </a:r>
            <a:endParaRPr lang="en-US" sz="1400" dirty="0"/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FD38CA9B-43C9-F2D9-92D4-106D51F8E3C7}"/>
              </a:ext>
            </a:extLst>
          </p:cNvPr>
          <p:cNvSpPr/>
          <p:nvPr/>
        </p:nvSpPr>
        <p:spPr>
          <a:xfrm>
            <a:off x="8011019" y="2382044"/>
            <a:ext cx="3519201" cy="254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38E78B-A680-F213-75DD-59D7A972CC0C}"/>
              </a:ext>
            </a:extLst>
          </p:cNvPr>
          <p:cNvSpPr/>
          <p:nvPr/>
        </p:nvSpPr>
        <p:spPr>
          <a:xfrm>
            <a:off x="10692882" y="6363478"/>
            <a:ext cx="1499118" cy="503853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9774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Research Claims &amp; Scope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76641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Clear delineation of what this research investigates .</a:t>
            </a:r>
            <a:endParaRPr lang="en-US" sz="145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12561DC-25A8-02CA-9DA8-A52307C2C3EF}"/>
              </a:ext>
            </a:extLst>
          </p:cNvPr>
          <p:cNvGrpSpPr/>
          <p:nvPr/>
        </p:nvGrpSpPr>
        <p:grpSpPr>
          <a:xfrm>
            <a:off x="2665879" y="3429000"/>
            <a:ext cx="6386691" cy="2552725"/>
            <a:chOff x="525350" y="3281462"/>
            <a:chExt cx="5476043" cy="1778794"/>
          </a:xfrm>
        </p:grpSpPr>
        <p:sp>
          <p:nvSpPr>
            <p:cNvPr id="4" name="Shape 2"/>
            <p:cNvSpPr/>
            <p:nvPr/>
          </p:nvSpPr>
          <p:spPr>
            <a:xfrm>
              <a:off x="525350" y="3281462"/>
              <a:ext cx="5476043" cy="1778794"/>
            </a:xfrm>
            <a:prstGeom prst="roundRect">
              <a:avLst>
                <a:gd name="adj" fmla="val 7651"/>
              </a:avLst>
            </a:prstGeom>
            <a:solidFill>
              <a:srgbClr val="2C2C2C">
                <a:alpha val="95000"/>
              </a:srgbClr>
            </a:solidFill>
            <a:ln/>
          </p:spPr>
        </p:sp>
        <p:sp>
          <p:nvSpPr>
            <p:cNvPr id="5" name="Text 3"/>
            <p:cNvSpPr/>
            <p:nvPr/>
          </p:nvSpPr>
          <p:spPr>
            <a:xfrm>
              <a:off x="714357" y="3470473"/>
              <a:ext cx="5098029" cy="2952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100" dirty="0">
                  <a:solidFill>
                    <a:srgbClr val="FFFFFF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What We Will Investigate</a:t>
              </a:r>
              <a:endParaRPr lang="en-US" sz="21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14357" y="3954760"/>
              <a:ext cx="5098029" cy="10394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294640" indent="-294640" algn="l">
                <a:lnSpc>
                  <a:spcPct val="133000"/>
                </a:lnSpc>
                <a:buSzPct val="100000"/>
                <a:buChar char="•"/>
              </a:pPr>
              <a:r>
                <a:rPr lang="en-US" sz="1600" dirty="0">
                  <a:solidFill>
                    <a:srgbClr val="FFFFFF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Robustness under noisy pilots</a:t>
              </a:r>
              <a:endParaRPr lang="en-US" sz="1600" dirty="0"/>
            </a:p>
            <a:p>
              <a:pPr marL="294640" indent="-294640" algn="l">
                <a:lnSpc>
                  <a:spcPct val="133000"/>
                </a:lnSpc>
                <a:buSzPct val="100000"/>
                <a:buChar char="•"/>
              </a:pPr>
              <a:r>
                <a:rPr lang="en-US" sz="1600" dirty="0">
                  <a:solidFill>
                    <a:srgbClr val="FFFFFF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Noise-aware learning effectiveness</a:t>
              </a:r>
              <a:endParaRPr lang="en-US" sz="1600" dirty="0"/>
            </a:p>
            <a:p>
              <a:pPr marL="294640" indent="-294640" algn="l">
                <a:lnSpc>
                  <a:spcPct val="133000"/>
                </a:lnSpc>
                <a:buSzPct val="100000"/>
                <a:buChar char="•"/>
              </a:pPr>
              <a:r>
                <a:rPr lang="en-US" sz="1600" dirty="0">
                  <a:solidFill>
                    <a:srgbClr val="FFFFFF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Discrete phase shift compatibility</a:t>
              </a:r>
              <a:endParaRPr lang="en-US" sz="1600" dirty="0"/>
            </a:p>
          </p:txBody>
        </p:sp>
      </p:grpSp>
      <p:sp>
        <p:nvSpPr>
          <p:cNvPr id="7" name="Text 5"/>
          <p:cNvSpPr/>
          <p:nvPr/>
        </p:nvSpPr>
        <p:spPr>
          <a:xfrm>
            <a:off x="6332776" y="347047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32776" y="3954760"/>
            <a:ext cx="5203794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33000"/>
              </a:lnSpc>
              <a:buSzPct val="100000"/>
            </a:pPr>
            <a:endParaRPr lang="en-US" sz="14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E61350-3908-56A9-1384-EFFAAC3E52E6}"/>
              </a:ext>
            </a:extLst>
          </p:cNvPr>
          <p:cNvSpPr/>
          <p:nvPr/>
        </p:nvSpPr>
        <p:spPr>
          <a:xfrm>
            <a:off x="10692882" y="6354147"/>
            <a:ext cx="1499118" cy="503853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063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Existing Approaches</a:t>
            </a:r>
            <a:endParaRPr lang="en-US" sz="3700" dirty="0"/>
          </a:p>
        </p:txBody>
      </p:sp>
      <p:sp>
        <p:nvSpPr>
          <p:cNvPr id="14" name="Text 11"/>
          <p:cNvSpPr/>
          <p:nvPr/>
        </p:nvSpPr>
        <p:spPr>
          <a:xfrm>
            <a:off x="1275723" y="4948535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C2D36C-4DE8-F473-A33B-1ED0FF1BF2E3}"/>
              </a:ext>
            </a:extLst>
          </p:cNvPr>
          <p:cNvSpPr/>
          <p:nvPr/>
        </p:nvSpPr>
        <p:spPr>
          <a:xfrm>
            <a:off x="10692882" y="6354147"/>
            <a:ext cx="1499118" cy="503853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23E6BA95-C277-E6FA-CB97-786E890E10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783963"/>
              </p:ext>
            </p:extLst>
          </p:nvPr>
        </p:nvGraphicFramePr>
        <p:xfrm>
          <a:off x="661475" y="1583114"/>
          <a:ext cx="10515600" cy="42062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50721756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5467237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5116019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084121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</a:rPr>
                        <a:t>Paper Type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</a:rPr>
                        <a:t>Paper Reference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effectLst/>
                        </a:rPr>
                        <a:t>Core Contribution</a:t>
                      </a:r>
                      <a:endParaRPr lang="en-IN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</a:rPr>
                        <a:t>Why We Use It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6767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Optimization Baseline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Q. Wu &amp; R. Zhang (IEEE TWC 2019)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Classical Alternating Optimization (AO) joint beamforming.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Provides our theoretical upper bound baseline under perfect channel knowledge.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DL Base Paper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Y. Ahn &amp; B. Shim (IEEE ICTC 2021)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Direct Deep Neural Network (DNN) beamformer mapping.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Proves neural networks can predict beamforming parameters faster than iterative solvers.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822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Landmark Base Paper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T. Jiang et al. (IEEE JSAC 2021 / arXiv:2009.14404)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Implicit Channel Estimation using Graph Neural Networks (GNN).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Provides our primary GNN architecture for processing short pilot bursts without matrix reconstruction.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6149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08C4468-78DB-6774-35AE-DC60BC1E8A79}"/>
              </a:ext>
            </a:extLst>
          </p:cNvPr>
          <p:cNvSpPr/>
          <p:nvPr/>
        </p:nvSpPr>
        <p:spPr>
          <a:xfrm>
            <a:off x="10692882" y="6354147"/>
            <a:ext cx="1499118" cy="503853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 0">
            <a:extLst>
              <a:ext uri="{FF2B5EF4-FFF2-40B4-BE49-F238E27FC236}">
                <a16:creationId xmlns:a16="http://schemas.microsoft.com/office/drawing/2014/main" id="{8A7FF3BE-952F-CADE-C680-F78DAD3A1815}"/>
              </a:ext>
            </a:extLst>
          </p:cNvPr>
          <p:cNvSpPr/>
          <p:nvPr/>
        </p:nvSpPr>
        <p:spPr>
          <a:xfrm>
            <a:off x="661475" y="567668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Proposed Methodology</a:t>
            </a:r>
            <a:endParaRPr lang="en-US" sz="3600" dirty="0"/>
          </a:p>
        </p:txBody>
      </p:sp>
      <p:sp>
        <p:nvSpPr>
          <p:cNvPr id="30" name="Text 1">
            <a:extLst>
              <a:ext uri="{FF2B5EF4-FFF2-40B4-BE49-F238E27FC236}">
                <a16:creationId xmlns:a16="http://schemas.microsoft.com/office/drawing/2014/main" id="{958D8152-91EF-6529-2536-4F8B65BF3462}"/>
              </a:ext>
            </a:extLst>
          </p:cNvPr>
          <p:cNvSpPr/>
          <p:nvPr/>
        </p:nvSpPr>
        <p:spPr>
          <a:xfrm>
            <a:off x="457454" y="1440055"/>
            <a:ext cx="114783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</a:t>
            </a:r>
            <a:r>
              <a:rPr lang="en-US" sz="14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noise-aware Graph Neural Network</a:t>
            </a: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that learns directly from noisy pilots, trained across multiple noise levels, with discrete phase-aware learning.</a:t>
            </a:r>
            <a:endParaRPr lang="en-US" sz="140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91888F3-B412-733B-BA88-DF636E37DD95}"/>
              </a:ext>
            </a:extLst>
          </p:cNvPr>
          <p:cNvGrpSpPr/>
          <p:nvPr/>
        </p:nvGrpSpPr>
        <p:grpSpPr>
          <a:xfrm>
            <a:off x="2752531" y="1679510"/>
            <a:ext cx="6064899" cy="4196025"/>
            <a:chOff x="2986211" y="1581150"/>
            <a:chExt cx="6219173" cy="4294386"/>
          </a:xfrm>
        </p:grpSpPr>
        <p:pic>
          <p:nvPicPr>
            <p:cNvPr id="31" name="Image 0" descr="preencoded.png">
              <a:extLst>
                <a:ext uri="{FF2B5EF4-FFF2-40B4-BE49-F238E27FC236}">
                  <a16:creationId xmlns:a16="http://schemas.microsoft.com/office/drawing/2014/main" id="{65CE7233-5393-2360-42BB-7E57D3A2C8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86211" y="1581150"/>
              <a:ext cx="6219173" cy="4294386"/>
            </a:xfrm>
            <a:prstGeom prst="rect">
              <a:avLst/>
            </a:prstGeom>
          </p:spPr>
        </p:pic>
        <p:sp>
          <p:nvSpPr>
            <p:cNvPr id="32" name="Text 2">
              <a:extLst>
                <a:ext uri="{FF2B5EF4-FFF2-40B4-BE49-F238E27FC236}">
                  <a16:creationId xmlns:a16="http://schemas.microsoft.com/office/drawing/2014/main" id="{3F447876-9546-BC5F-E0B7-FE9F9CC089CA}"/>
                </a:ext>
              </a:extLst>
            </p:cNvPr>
            <p:cNvSpPr/>
            <p:nvPr/>
          </p:nvSpPr>
          <p:spPr>
            <a:xfrm>
              <a:off x="3200852" y="4804907"/>
              <a:ext cx="1711808" cy="21398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300" dirty="0">
                  <a:solidFill>
                    <a:srgbClr val="272525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Noisy Pilots</a:t>
              </a:r>
              <a:endParaRPr lang="en-US" sz="1300" dirty="0"/>
            </a:p>
          </p:txBody>
        </p:sp>
        <p:sp>
          <p:nvSpPr>
            <p:cNvPr id="33" name="Text 3">
              <a:extLst>
                <a:ext uri="{FF2B5EF4-FFF2-40B4-BE49-F238E27FC236}">
                  <a16:creationId xmlns:a16="http://schemas.microsoft.com/office/drawing/2014/main" id="{7731DE27-61C4-98A8-2A90-BE90FEC4865A}"/>
                </a:ext>
              </a:extLst>
            </p:cNvPr>
            <p:cNvSpPr/>
            <p:nvPr/>
          </p:nvSpPr>
          <p:spPr>
            <a:xfrm>
              <a:off x="3139988" y="5079754"/>
              <a:ext cx="1833536" cy="2910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ctr">
                <a:lnSpc>
                  <a:spcPct val="89000"/>
                </a:lnSpc>
                <a:buNone/>
              </a:pPr>
              <a:r>
                <a:rPr lang="en-US" sz="1050" dirty="0">
                  <a:solidFill>
                    <a:srgbClr val="272525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Initial signal transmission with noise.</a:t>
              </a:r>
              <a:endParaRPr lang="en-US" sz="1050" dirty="0"/>
            </a:p>
          </p:txBody>
        </p:sp>
        <p:sp>
          <p:nvSpPr>
            <p:cNvPr id="34" name="Text 4">
              <a:extLst>
                <a:ext uri="{FF2B5EF4-FFF2-40B4-BE49-F238E27FC236}">
                  <a16:creationId xmlns:a16="http://schemas.microsoft.com/office/drawing/2014/main" id="{A65D56D8-F789-61A7-71DF-293830C1F8B5}"/>
                </a:ext>
              </a:extLst>
            </p:cNvPr>
            <p:cNvSpPr/>
            <p:nvPr/>
          </p:nvSpPr>
          <p:spPr>
            <a:xfrm>
              <a:off x="4555082" y="2085799"/>
              <a:ext cx="1711808" cy="21398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300" dirty="0">
                  <a:solidFill>
                    <a:srgbClr val="272525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Noise-Aware GNN</a:t>
              </a:r>
              <a:endParaRPr lang="en-US" sz="1300" dirty="0"/>
            </a:p>
          </p:txBody>
        </p:sp>
        <p:sp>
          <p:nvSpPr>
            <p:cNvPr id="35" name="Text 5">
              <a:extLst>
                <a:ext uri="{FF2B5EF4-FFF2-40B4-BE49-F238E27FC236}">
                  <a16:creationId xmlns:a16="http://schemas.microsoft.com/office/drawing/2014/main" id="{D9C00721-7BD1-B2DD-59B6-89E2CB6F08AD}"/>
                </a:ext>
              </a:extLst>
            </p:cNvPr>
            <p:cNvSpPr/>
            <p:nvPr/>
          </p:nvSpPr>
          <p:spPr>
            <a:xfrm>
              <a:off x="4494218" y="2360646"/>
              <a:ext cx="1833536" cy="2910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ctr">
                <a:lnSpc>
                  <a:spcPct val="89000"/>
                </a:lnSpc>
                <a:buNone/>
              </a:pPr>
              <a:r>
                <a:rPr lang="en-US" sz="1050" dirty="0">
                  <a:solidFill>
                    <a:srgbClr val="272525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Neural network processes signals.</a:t>
              </a:r>
              <a:endParaRPr lang="en-US" sz="1050" dirty="0"/>
            </a:p>
          </p:txBody>
        </p:sp>
        <p:sp>
          <p:nvSpPr>
            <p:cNvPr id="36" name="Text 6">
              <a:extLst>
                <a:ext uri="{FF2B5EF4-FFF2-40B4-BE49-F238E27FC236}">
                  <a16:creationId xmlns:a16="http://schemas.microsoft.com/office/drawing/2014/main" id="{18645B35-2F0D-5011-B0C8-1837E8B46328}"/>
                </a:ext>
              </a:extLst>
            </p:cNvPr>
            <p:cNvSpPr/>
            <p:nvPr/>
          </p:nvSpPr>
          <p:spPr>
            <a:xfrm>
              <a:off x="5916920" y="4804907"/>
              <a:ext cx="1711808" cy="21398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300" dirty="0">
                  <a:solidFill>
                    <a:srgbClr val="272525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Beamforming Weights</a:t>
              </a:r>
              <a:endParaRPr lang="en-US" sz="1300" dirty="0"/>
            </a:p>
          </p:txBody>
        </p:sp>
        <p:sp>
          <p:nvSpPr>
            <p:cNvPr id="37" name="Text 7">
              <a:extLst>
                <a:ext uri="{FF2B5EF4-FFF2-40B4-BE49-F238E27FC236}">
                  <a16:creationId xmlns:a16="http://schemas.microsoft.com/office/drawing/2014/main" id="{B917E2FC-E821-6326-2E41-4823442864E2}"/>
                </a:ext>
              </a:extLst>
            </p:cNvPr>
            <p:cNvSpPr/>
            <p:nvPr/>
          </p:nvSpPr>
          <p:spPr>
            <a:xfrm>
              <a:off x="5856056" y="5079754"/>
              <a:ext cx="1833536" cy="2910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ctr">
                <a:lnSpc>
                  <a:spcPct val="89000"/>
                </a:lnSpc>
                <a:buNone/>
              </a:pPr>
              <a:r>
                <a:rPr lang="en-US" sz="1050" dirty="0">
                  <a:solidFill>
                    <a:srgbClr val="272525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GNN determines antenna weights.</a:t>
              </a:r>
              <a:endParaRPr lang="en-US" sz="1050" dirty="0"/>
            </a:p>
          </p:txBody>
        </p:sp>
        <p:sp>
          <p:nvSpPr>
            <p:cNvPr id="38" name="Text 8">
              <a:extLst>
                <a:ext uri="{FF2B5EF4-FFF2-40B4-BE49-F238E27FC236}">
                  <a16:creationId xmlns:a16="http://schemas.microsoft.com/office/drawing/2014/main" id="{485CD0D6-67BE-6442-9286-31708BFB83B1}"/>
                </a:ext>
              </a:extLst>
            </p:cNvPr>
            <p:cNvSpPr/>
            <p:nvPr/>
          </p:nvSpPr>
          <p:spPr>
            <a:xfrm>
              <a:off x="7278758" y="2085799"/>
              <a:ext cx="1711808" cy="21398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300" dirty="0">
                  <a:solidFill>
                    <a:srgbClr val="272525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IRS Phase Config</a:t>
              </a:r>
              <a:endParaRPr lang="en-US" sz="1300" dirty="0"/>
            </a:p>
          </p:txBody>
        </p:sp>
        <p:sp>
          <p:nvSpPr>
            <p:cNvPr id="39" name="Text 9">
              <a:extLst>
                <a:ext uri="{FF2B5EF4-FFF2-40B4-BE49-F238E27FC236}">
                  <a16:creationId xmlns:a16="http://schemas.microsoft.com/office/drawing/2014/main" id="{3CEC6422-2487-C1D8-4944-5DBF03E4DBCB}"/>
                </a:ext>
              </a:extLst>
            </p:cNvPr>
            <p:cNvSpPr/>
            <p:nvPr/>
          </p:nvSpPr>
          <p:spPr>
            <a:xfrm>
              <a:off x="7217894" y="2360646"/>
              <a:ext cx="1833536" cy="2910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ctr">
                <a:lnSpc>
                  <a:spcPct val="89000"/>
                </a:lnSpc>
                <a:buNone/>
              </a:pPr>
              <a:r>
                <a:rPr lang="en-US" sz="1050" dirty="0">
                  <a:solidFill>
                    <a:srgbClr val="272525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Calculates surface phase shifts.</a:t>
              </a:r>
              <a:endParaRPr lang="en-US" sz="1050" dirty="0"/>
            </a:p>
          </p:txBody>
        </p:sp>
      </p:grpSp>
      <p:sp>
        <p:nvSpPr>
          <p:cNvPr id="40" name="Text 10">
            <a:extLst>
              <a:ext uri="{FF2B5EF4-FFF2-40B4-BE49-F238E27FC236}">
                <a16:creationId xmlns:a16="http://schemas.microsoft.com/office/drawing/2014/main" id="{59E5586C-B99A-1F4B-828E-1CBFBAA34363}"/>
              </a:ext>
            </a:extLst>
          </p:cNvPr>
          <p:cNvSpPr/>
          <p:nvPr/>
        </p:nvSpPr>
        <p:spPr>
          <a:xfrm>
            <a:off x="661475" y="5979716"/>
            <a:ext cx="7754737" cy="388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pipeline bridges the gap between theoretical optimization and practical IRS deployment under realistic channel estimation conditions.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7878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Bridging Theory and Practice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2552898"/>
            <a:ext cx="5476043" cy="1778794"/>
          </a:xfrm>
          <a:prstGeom prst="roundRect">
            <a:avLst>
              <a:gd name="adj" fmla="val 7651"/>
            </a:avLst>
          </a:prstGeom>
          <a:solidFill>
            <a:srgbClr val="2C2C2C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2741910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Current Assumptions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14357" y="3226197"/>
            <a:ext cx="5098029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Perfect CSI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Continuous phase shifts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 SNR pilots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32776" y="274191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Practical Reality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32776" y="3226197"/>
            <a:ext cx="5203794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Noisy CSI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Discrete phase shifts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Variable SNR conditions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61475" y="4591546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61475" y="487680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gap motivates a noise-aware learning framework that bridges theory and practice.</a:t>
            </a:r>
            <a:endParaRPr lang="en-US" sz="14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782479-75CC-7E75-405F-CB71BBB52D35}"/>
              </a:ext>
            </a:extLst>
          </p:cNvPr>
          <p:cNvSpPr/>
          <p:nvPr/>
        </p:nvSpPr>
        <p:spPr>
          <a:xfrm>
            <a:off x="10692882" y="6363478"/>
            <a:ext cx="1499118" cy="503853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2471"/>
            <a:ext cx="10868745" cy="494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Implementation Roadmap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61475" y="1321296"/>
            <a:ext cx="11478330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Five sequential phases from system simulation through optional quantization-aware extensions.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086323" y="1702495"/>
            <a:ext cx="19050" cy="4592935"/>
          </a:xfrm>
          <a:prstGeom prst="roundRect">
            <a:avLst>
              <a:gd name="adj" fmla="val 49999"/>
            </a:avLst>
          </a:prstGeom>
          <a:solidFill>
            <a:srgbClr val="CECEC9"/>
          </a:solidFill>
          <a:ln/>
        </p:spPr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5CE069D-2B98-FEAE-A5EC-52C26C4F7EF6}"/>
              </a:ext>
            </a:extLst>
          </p:cNvPr>
          <p:cNvGrpSpPr/>
          <p:nvPr/>
        </p:nvGrpSpPr>
        <p:grpSpPr>
          <a:xfrm>
            <a:off x="639905" y="2063424"/>
            <a:ext cx="5493654" cy="558899"/>
            <a:chOff x="661475" y="1756767"/>
            <a:chExt cx="5493654" cy="558899"/>
          </a:xfrm>
        </p:grpSpPr>
        <p:sp>
          <p:nvSpPr>
            <p:cNvPr id="5" name="Shape 3"/>
            <p:cNvSpPr/>
            <p:nvPr/>
          </p:nvSpPr>
          <p:spPr>
            <a:xfrm>
              <a:off x="5798596" y="1870869"/>
              <a:ext cx="316301" cy="19050"/>
            </a:xfrm>
            <a:prstGeom prst="roundRect">
              <a:avLst>
                <a:gd name="adj" fmla="val 49999"/>
              </a:avLst>
            </a:prstGeom>
            <a:solidFill>
              <a:srgbClr val="CECEC9"/>
            </a:solidFill>
            <a:ln/>
          </p:spPr>
        </p:sp>
        <p:sp>
          <p:nvSpPr>
            <p:cNvPr id="6" name="Shape 4"/>
            <p:cNvSpPr/>
            <p:nvPr/>
          </p:nvSpPr>
          <p:spPr>
            <a:xfrm>
              <a:off x="6036566" y="1821111"/>
              <a:ext cx="118563" cy="118566"/>
            </a:xfrm>
            <a:prstGeom prst="ellipse">
              <a:avLst/>
            </a:prstGeom>
            <a:solidFill>
              <a:srgbClr val="E5E5E0"/>
            </a:solidFill>
            <a:ln/>
          </p:spPr>
        </p:sp>
        <p:sp>
          <p:nvSpPr>
            <p:cNvPr id="7" name="Text 5"/>
            <p:cNvSpPr/>
            <p:nvPr/>
          </p:nvSpPr>
          <p:spPr>
            <a:xfrm>
              <a:off x="661475" y="1756767"/>
              <a:ext cx="4801770" cy="24715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r">
                <a:lnSpc>
                  <a:spcPct val="104000"/>
                </a:lnSpc>
                <a:buNone/>
              </a:pPr>
              <a:r>
                <a:rPr lang="en-US" sz="1550" dirty="0">
                  <a:solidFill>
                    <a:srgbClr val="272525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Phase 1</a:t>
              </a:r>
              <a:endParaRPr lang="en-US" sz="155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661475" y="2083296"/>
              <a:ext cx="4801770" cy="2323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r">
                <a:lnSpc>
                  <a:spcPct val="122000"/>
                </a:lnSpc>
                <a:buNone/>
              </a:pPr>
              <a:r>
                <a:rPr lang="en-US" sz="1200" dirty="0">
                  <a:solidFill>
                    <a:srgbClr val="272525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IRS channel simulation environment</a:t>
              </a:r>
              <a:endParaRPr lang="en-US" sz="12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1579C4F-D59B-C27A-F264-CF954D71A1B0}"/>
              </a:ext>
            </a:extLst>
          </p:cNvPr>
          <p:cNvGrpSpPr/>
          <p:nvPr/>
        </p:nvGrpSpPr>
        <p:grpSpPr>
          <a:xfrm>
            <a:off x="6046284" y="3231966"/>
            <a:ext cx="5493654" cy="558899"/>
            <a:chOff x="6036566" y="2654002"/>
            <a:chExt cx="5493654" cy="558899"/>
          </a:xfrm>
        </p:grpSpPr>
        <p:sp>
          <p:nvSpPr>
            <p:cNvPr id="9" name="Shape 7"/>
            <p:cNvSpPr/>
            <p:nvPr/>
          </p:nvSpPr>
          <p:spPr>
            <a:xfrm>
              <a:off x="6076798" y="2768104"/>
              <a:ext cx="316301" cy="19050"/>
            </a:xfrm>
            <a:prstGeom prst="roundRect">
              <a:avLst>
                <a:gd name="adj" fmla="val 49999"/>
              </a:avLst>
            </a:prstGeom>
            <a:solidFill>
              <a:srgbClr val="CECEC9"/>
            </a:solidFill>
            <a:ln/>
          </p:spPr>
        </p:sp>
        <p:sp>
          <p:nvSpPr>
            <p:cNvPr id="10" name="Shape 8"/>
            <p:cNvSpPr/>
            <p:nvPr/>
          </p:nvSpPr>
          <p:spPr>
            <a:xfrm>
              <a:off x="6036566" y="2718346"/>
              <a:ext cx="118563" cy="118566"/>
            </a:xfrm>
            <a:prstGeom prst="ellipse">
              <a:avLst/>
            </a:prstGeom>
            <a:solidFill>
              <a:srgbClr val="E5E5E0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6728450" y="2654002"/>
              <a:ext cx="4801770" cy="24715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550" dirty="0">
                  <a:solidFill>
                    <a:srgbClr val="272525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Phase 2</a:t>
              </a:r>
              <a:endParaRPr lang="en-US" sz="155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6728450" y="2980531"/>
              <a:ext cx="4801770" cy="2323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22000"/>
                </a:lnSpc>
                <a:buNone/>
              </a:pPr>
              <a:r>
                <a:rPr lang="en-US" sz="1200" dirty="0">
                  <a:solidFill>
                    <a:srgbClr val="272525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Classical and AI baseline implementation</a:t>
              </a:r>
              <a:endParaRPr lang="en-US" sz="12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C23798C-0B0E-0EE9-750E-C4C6F80D1FE5}"/>
              </a:ext>
            </a:extLst>
          </p:cNvPr>
          <p:cNvGrpSpPr/>
          <p:nvPr/>
        </p:nvGrpSpPr>
        <p:grpSpPr>
          <a:xfrm>
            <a:off x="639905" y="4479990"/>
            <a:ext cx="5493654" cy="558899"/>
            <a:chOff x="661475" y="3446066"/>
            <a:chExt cx="5493654" cy="558899"/>
          </a:xfrm>
        </p:grpSpPr>
        <p:sp>
          <p:nvSpPr>
            <p:cNvPr id="13" name="Shape 11"/>
            <p:cNvSpPr/>
            <p:nvPr/>
          </p:nvSpPr>
          <p:spPr>
            <a:xfrm>
              <a:off x="5798596" y="3560167"/>
              <a:ext cx="316301" cy="19050"/>
            </a:xfrm>
            <a:prstGeom prst="roundRect">
              <a:avLst>
                <a:gd name="adj" fmla="val 49999"/>
              </a:avLst>
            </a:prstGeom>
            <a:solidFill>
              <a:srgbClr val="CECEC9"/>
            </a:solidFill>
            <a:ln/>
          </p:spPr>
        </p:sp>
        <p:sp>
          <p:nvSpPr>
            <p:cNvPr id="14" name="Shape 12"/>
            <p:cNvSpPr/>
            <p:nvPr/>
          </p:nvSpPr>
          <p:spPr>
            <a:xfrm>
              <a:off x="6036566" y="3510409"/>
              <a:ext cx="118563" cy="118566"/>
            </a:xfrm>
            <a:prstGeom prst="ellipse">
              <a:avLst/>
            </a:prstGeom>
            <a:solidFill>
              <a:srgbClr val="E5E5E0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661475" y="3446066"/>
              <a:ext cx="4801770" cy="24715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r">
                <a:lnSpc>
                  <a:spcPct val="104000"/>
                </a:lnSpc>
                <a:buNone/>
              </a:pPr>
              <a:r>
                <a:rPr lang="en-US" sz="1550" dirty="0">
                  <a:solidFill>
                    <a:srgbClr val="272525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Phase 3</a:t>
              </a:r>
              <a:endParaRPr lang="en-US" sz="155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661475" y="3772595"/>
              <a:ext cx="4801770" cy="2323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r">
                <a:lnSpc>
                  <a:spcPct val="122000"/>
                </a:lnSpc>
                <a:buNone/>
              </a:pPr>
              <a:r>
                <a:rPr lang="en-US" sz="1200" dirty="0">
                  <a:solidFill>
                    <a:srgbClr val="272525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Noise-aware GNN training pipeline</a:t>
              </a:r>
              <a:endParaRPr lang="en-US" sz="12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5D33D76-6FA4-17E0-D5B1-3A12986A8122}"/>
              </a:ext>
            </a:extLst>
          </p:cNvPr>
          <p:cNvGrpSpPr/>
          <p:nvPr/>
        </p:nvGrpSpPr>
        <p:grpSpPr>
          <a:xfrm>
            <a:off x="6036566" y="5577711"/>
            <a:ext cx="5493654" cy="558899"/>
            <a:chOff x="6036566" y="4238129"/>
            <a:chExt cx="5493654" cy="558899"/>
          </a:xfrm>
        </p:grpSpPr>
        <p:sp>
          <p:nvSpPr>
            <p:cNvPr id="17" name="Shape 15"/>
            <p:cNvSpPr/>
            <p:nvPr/>
          </p:nvSpPr>
          <p:spPr>
            <a:xfrm>
              <a:off x="6076798" y="4352230"/>
              <a:ext cx="316301" cy="19050"/>
            </a:xfrm>
            <a:prstGeom prst="roundRect">
              <a:avLst>
                <a:gd name="adj" fmla="val 49999"/>
              </a:avLst>
            </a:prstGeom>
            <a:solidFill>
              <a:srgbClr val="CECEC9"/>
            </a:solidFill>
            <a:ln/>
          </p:spPr>
        </p:sp>
        <p:sp>
          <p:nvSpPr>
            <p:cNvPr id="18" name="Shape 16"/>
            <p:cNvSpPr/>
            <p:nvPr/>
          </p:nvSpPr>
          <p:spPr>
            <a:xfrm>
              <a:off x="6036566" y="4302472"/>
              <a:ext cx="118563" cy="118566"/>
            </a:xfrm>
            <a:prstGeom prst="ellipse">
              <a:avLst/>
            </a:prstGeom>
            <a:solidFill>
              <a:srgbClr val="E5E5E0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6728450" y="4238129"/>
              <a:ext cx="4801770" cy="24715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550" dirty="0">
                  <a:solidFill>
                    <a:srgbClr val="272525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Phase 4</a:t>
              </a:r>
              <a:endParaRPr lang="en-US" sz="155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6728450" y="4564658"/>
              <a:ext cx="4801770" cy="2323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22000"/>
                </a:lnSpc>
                <a:buNone/>
              </a:pPr>
              <a:r>
                <a:rPr lang="en-US" sz="1200" dirty="0">
                  <a:solidFill>
                    <a:srgbClr val="272525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Evaluation across SNR and pilot configurations</a:t>
              </a:r>
              <a:endParaRPr lang="en-US" sz="1200" dirty="0"/>
            </a:p>
          </p:txBody>
        </p:sp>
      </p:grpSp>
      <p:sp>
        <p:nvSpPr>
          <p:cNvPr id="23" name="Text 21"/>
          <p:cNvSpPr/>
          <p:nvPr/>
        </p:nvSpPr>
        <p:spPr>
          <a:xfrm>
            <a:off x="661475" y="5030192"/>
            <a:ext cx="4801770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endParaRPr lang="en-US" sz="15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398D35-A33E-CABD-5721-FED5FBC9FDED}"/>
              </a:ext>
            </a:extLst>
          </p:cNvPr>
          <p:cNvSpPr/>
          <p:nvPr/>
        </p:nvSpPr>
        <p:spPr>
          <a:xfrm>
            <a:off x="10692882" y="6354147"/>
            <a:ext cx="1499118" cy="503853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553DA071-00AB-D130-171F-817D84F26F6F}"/>
              </a:ext>
            </a:extLst>
          </p:cNvPr>
          <p:cNvSpPr/>
          <p:nvPr/>
        </p:nvSpPr>
        <p:spPr>
          <a:xfrm>
            <a:off x="661627" y="1327581"/>
            <a:ext cx="10868745" cy="494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References</a:t>
            </a:r>
            <a:endParaRPr lang="en-US" sz="3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2C96BEC-1101-5137-93BD-F3A7C72D3B31}"/>
              </a:ext>
            </a:extLst>
          </p:cNvPr>
          <p:cNvSpPr/>
          <p:nvPr/>
        </p:nvSpPr>
        <p:spPr>
          <a:xfrm>
            <a:off x="438539" y="2090057"/>
            <a:ext cx="10655559" cy="4105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>
              <a:lnSpc>
                <a:spcPct val="133000"/>
              </a:lnSpc>
              <a:buSzPct val="100000"/>
            </a:pPr>
            <a:r>
              <a:rPr lang="en-US" sz="1450" dirty="0">
                <a:solidFill>
                  <a:srgbClr val="312F2B"/>
                </a:solidFill>
              </a:rPr>
              <a:t>[1] Q. Wu and R. Zhang, “Intelligent Reflecting Surface Enhanced Wireless</a:t>
            </a:r>
          </a:p>
          <a:p>
            <a:pPr>
              <a:lnSpc>
                <a:spcPct val="133000"/>
              </a:lnSpc>
              <a:buSzPct val="100000"/>
            </a:pPr>
            <a:r>
              <a:rPr lang="en-US" sz="1450" dirty="0">
                <a:solidFill>
                  <a:srgbClr val="312F2B"/>
                </a:solidFill>
              </a:rPr>
              <a:t>    Network via Joint Active and Passive Beamforming,” IEEE Transactions</a:t>
            </a:r>
          </a:p>
          <a:p>
            <a:pPr>
              <a:lnSpc>
                <a:spcPct val="133000"/>
              </a:lnSpc>
              <a:buSzPct val="100000"/>
            </a:pPr>
            <a:r>
              <a:rPr lang="en-US" sz="1450" dirty="0">
                <a:solidFill>
                  <a:srgbClr val="312F2B"/>
                </a:solidFill>
              </a:rPr>
              <a:t>    on Wireless Communications, vol. 18, no. 11, pp. 5394–5409, Nov. 2019,</a:t>
            </a:r>
          </a:p>
          <a:p>
            <a:pPr>
              <a:lnSpc>
                <a:spcPct val="133000"/>
              </a:lnSpc>
              <a:buSzPct val="100000"/>
            </a:pPr>
            <a:r>
              <a:rPr lang="en-US" sz="1450" dirty="0">
                <a:solidFill>
                  <a:srgbClr val="312F2B"/>
                </a:solidFill>
              </a:rPr>
              <a:t>    </a:t>
            </a:r>
            <a:r>
              <a:rPr lang="en-US" sz="1450" dirty="0" err="1">
                <a:solidFill>
                  <a:srgbClr val="312F2B"/>
                </a:solidFill>
              </a:rPr>
              <a:t>doi</a:t>
            </a:r>
            <a:r>
              <a:rPr lang="en-US" sz="1450" dirty="0">
                <a:solidFill>
                  <a:srgbClr val="312F2B"/>
                </a:solidFill>
              </a:rPr>
              <a:t>: 10.1109/TWC.2019.2936025.</a:t>
            </a:r>
          </a:p>
          <a:p>
            <a:pPr>
              <a:lnSpc>
                <a:spcPct val="133000"/>
              </a:lnSpc>
              <a:buSzPct val="100000"/>
            </a:pPr>
            <a:endParaRPr lang="en-US" sz="1450" dirty="0">
              <a:solidFill>
                <a:srgbClr val="312F2B"/>
              </a:solidFill>
            </a:endParaRPr>
          </a:p>
          <a:p>
            <a:pPr>
              <a:lnSpc>
                <a:spcPct val="133000"/>
              </a:lnSpc>
              <a:buSzPct val="100000"/>
            </a:pPr>
            <a:r>
              <a:rPr lang="en-US" sz="1450" dirty="0">
                <a:solidFill>
                  <a:srgbClr val="312F2B"/>
                </a:solidFill>
              </a:rPr>
              <a:t>[2] Y. Ahn and B. Shim, “Deep Learning-Based Beamforming for Intelligent</a:t>
            </a:r>
          </a:p>
          <a:p>
            <a:pPr>
              <a:lnSpc>
                <a:spcPct val="133000"/>
              </a:lnSpc>
              <a:buSzPct val="100000"/>
            </a:pPr>
            <a:r>
              <a:rPr lang="en-US" sz="1450" dirty="0">
                <a:solidFill>
                  <a:srgbClr val="312F2B"/>
                </a:solidFill>
              </a:rPr>
              <a:t>    Reflecting Surface-Assisted </a:t>
            </a:r>
            <a:r>
              <a:rPr lang="en-US" sz="1450" dirty="0" err="1">
                <a:solidFill>
                  <a:srgbClr val="312F2B"/>
                </a:solidFill>
              </a:rPr>
              <a:t>mmWave</a:t>
            </a:r>
            <a:r>
              <a:rPr lang="en-US" sz="1450" dirty="0">
                <a:solidFill>
                  <a:srgbClr val="312F2B"/>
                </a:solidFill>
              </a:rPr>
              <a:t> Systems,” in Proc. IEEE International</a:t>
            </a:r>
          </a:p>
          <a:p>
            <a:pPr>
              <a:lnSpc>
                <a:spcPct val="133000"/>
              </a:lnSpc>
              <a:buSzPct val="100000"/>
            </a:pPr>
            <a:r>
              <a:rPr lang="en-US" sz="1450" dirty="0">
                <a:solidFill>
                  <a:srgbClr val="312F2B"/>
                </a:solidFill>
              </a:rPr>
              <a:t>    Conference on Information and Communication Technology Convergence</a:t>
            </a:r>
          </a:p>
          <a:p>
            <a:pPr>
              <a:lnSpc>
                <a:spcPct val="133000"/>
              </a:lnSpc>
              <a:buSzPct val="100000"/>
            </a:pPr>
            <a:r>
              <a:rPr lang="en-US" sz="1450" dirty="0">
                <a:solidFill>
                  <a:srgbClr val="312F2B"/>
                </a:solidFill>
              </a:rPr>
              <a:t>    (ICTC), 2021, pp. 1731–1734,</a:t>
            </a:r>
          </a:p>
          <a:p>
            <a:pPr>
              <a:lnSpc>
                <a:spcPct val="133000"/>
              </a:lnSpc>
              <a:buSzPct val="100000"/>
            </a:pPr>
            <a:r>
              <a:rPr lang="en-US" sz="1450" dirty="0">
                <a:solidFill>
                  <a:srgbClr val="312F2B"/>
                </a:solidFill>
              </a:rPr>
              <a:t>    </a:t>
            </a:r>
            <a:r>
              <a:rPr lang="en-US" sz="1450" dirty="0" err="1">
                <a:solidFill>
                  <a:srgbClr val="312F2B"/>
                </a:solidFill>
              </a:rPr>
              <a:t>doi</a:t>
            </a:r>
            <a:r>
              <a:rPr lang="en-US" sz="1450" dirty="0">
                <a:solidFill>
                  <a:srgbClr val="312F2B"/>
                </a:solidFill>
              </a:rPr>
              <a:t>: 10.1109/ICTC52510.2021.9621150.</a:t>
            </a:r>
          </a:p>
          <a:p>
            <a:pPr>
              <a:lnSpc>
                <a:spcPct val="133000"/>
              </a:lnSpc>
              <a:buSzPct val="100000"/>
            </a:pPr>
            <a:endParaRPr lang="en-US" sz="1450" dirty="0">
              <a:solidFill>
                <a:srgbClr val="312F2B"/>
              </a:solidFill>
            </a:endParaRPr>
          </a:p>
          <a:p>
            <a:pPr>
              <a:lnSpc>
                <a:spcPct val="133000"/>
              </a:lnSpc>
              <a:buSzPct val="100000"/>
            </a:pPr>
            <a:r>
              <a:rPr lang="en-US" sz="1450" dirty="0">
                <a:solidFill>
                  <a:srgbClr val="312F2B"/>
                </a:solidFill>
              </a:rPr>
              <a:t>[3] T. Jiang, H. V. Cheng, and W. Yu, “Learning to Reflect and to Beamform</a:t>
            </a:r>
          </a:p>
          <a:p>
            <a:pPr>
              <a:lnSpc>
                <a:spcPct val="133000"/>
              </a:lnSpc>
              <a:buSzPct val="100000"/>
            </a:pPr>
            <a:r>
              <a:rPr lang="en-US" sz="1450" dirty="0">
                <a:solidFill>
                  <a:srgbClr val="312F2B"/>
                </a:solidFill>
              </a:rPr>
              <a:t>    for Intelligent Reflecting Surface With Implicit Channel Estimation,”</a:t>
            </a:r>
          </a:p>
          <a:p>
            <a:pPr>
              <a:lnSpc>
                <a:spcPct val="133000"/>
              </a:lnSpc>
              <a:buSzPct val="100000"/>
            </a:pPr>
            <a:r>
              <a:rPr lang="en-US" sz="1450" dirty="0">
                <a:solidFill>
                  <a:srgbClr val="312F2B"/>
                </a:solidFill>
              </a:rPr>
              <a:t>    IEEE Journal on Selected Areas in Communications, vol. 39, no. 7,</a:t>
            </a:r>
          </a:p>
          <a:p>
            <a:pPr>
              <a:lnSpc>
                <a:spcPct val="133000"/>
              </a:lnSpc>
              <a:buSzPct val="100000"/>
            </a:pPr>
            <a:r>
              <a:rPr lang="en-US" sz="1450" dirty="0">
                <a:solidFill>
                  <a:srgbClr val="312F2B"/>
                </a:solidFill>
              </a:rPr>
              <a:t>    pp. 1931–1945, Jul. 2021,</a:t>
            </a:r>
          </a:p>
          <a:p>
            <a:pPr>
              <a:lnSpc>
                <a:spcPct val="133000"/>
              </a:lnSpc>
              <a:buSzPct val="100000"/>
            </a:pPr>
            <a:r>
              <a:rPr lang="en-US" sz="1450" dirty="0">
                <a:solidFill>
                  <a:srgbClr val="312F2B"/>
                </a:solidFill>
              </a:rPr>
              <a:t>    </a:t>
            </a:r>
            <a:r>
              <a:rPr lang="en-US" sz="1450" dirty="0" err="1">
                <a:solidFill>
                  <a:srgbClr val="312F2B"/>
                </a:solidFill>
              </a:rPr>
              <a:t>doi</a:t>
            </a:r>
            <a:r>
              <a:rPr lang="en-US" sz="1450" dirty="0">
                <a:solidFill>
                  <a:srgbClr val="312F2B"/>
                </a:solidFill>
              </a:rPr>
              <a:t>: 10.1109/JSAC.2021.3078502.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D0135A-B639-C221-1584-DF70F8E72680}"/>
              </a:ext>
            </a:extLst>
          </p:cNvPr>
          <p:cNvSpPr/>
          <p:nvPr/>
        </p:nvSpPr>
        <p:spPr>
          <a:xfrm>
            <a:off x="11010122" y="6550090"/>
            <a:ext cx="1181878" cy="24259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9393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61475" y="2770981"/>
            <a:ext cx="10868745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1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Thank You</a:t>
            </a:r>
            <a:endParaRPr lang="en-US" sz="5100" dirty="0"/>
          </a:p>
        </p:txBody>
      </p:sp>
      <p:sp>
        <p:nvSpPr>
          <p:cNvPr id="6" name="Shape 4"/>
          <p:cNvSpPr/>
          <p:nvPr/>
        </p:nvSpPr>
        <p:spPr>
          <a:xfrm>
            <a:off x="533138" y="3916858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14EF29E0-2A29-BB6F-25CD-EA202DE2BBED}"/>
              </a:ext>
            </a:extLst>
          </p:cNvPr>
          <p:cNvSpPr/>
          <p:nvPr/>
        </p:nvSpPr>
        <p:spPr>
          <a:xfrm>
            <a:off x="533138" y="2414885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943C14-7739-E5E4-C609-58FDCC04CCF7}"/>
              </a:ext>
            </a:extLst>
          </p:cNvPr>
          <p:cNvSpPr/>
          <p:nvPr/>
        </p:nvSpPr>
        <p:spPr>
          <a:xfrm>
            <a:off x="10692882" y="6354147"/>
            <a:ext cx="1499118" cy="503853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761</Words>
  <Application>Microsoft Office PowerPoint</Application>
  <PresentationFormat>Widescreen</PresentationFormat>
  <Paragraphs>111</Paragraphs>
  <Slides>12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Lato Bold</vt:lpstr>
      <vt:lpstr>Gelasio</vt:lpstr>
      <vt:lpstr>Lato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Soham</dc:creator>
  <cp:lastModifiedBy>Soham Makarand Landge</cp:lastModifiedBy>
  <cp:revision>21</cp:revision>
  <dcterms:created xsi:type="dcterms:W3CDTF">2026-08-10T17:53:37Z</dcterms:created>
  <dcterms:modified xsi:type="dcterms:W3CDTF">2026-08-12T06:29:50Z</dcterms:modified>
</cp:coreProperties>
</file>